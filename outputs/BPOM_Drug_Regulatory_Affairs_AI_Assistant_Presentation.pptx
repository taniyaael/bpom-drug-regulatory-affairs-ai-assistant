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19795"/>
                </a:solidFill>
              </a:defRPr>
            </a:pPr>
            <a:r>
              <a:t>BADAN PENGAWAS OBAT DAN MAKANAN REPUBLIK INDONESIA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BPOM Drug Regulatory Affairs</a:t>
            </a:r>
            <a:br/>
            <a:r>
              <a:t>AI Assistant</a:t>
            </a:r>
          </a:p>
          <a:p>
            <a:pPr>
              <a:spcAft>
                <a:spcPts val="2400"/>
              </a:spcAft>
              <a:defRPr sz="1400">
                <a:solidFill>
                  <a:srgbClr val="E2E8F0"/>
                </a:solidFill>
              </a:defRPr>
            </a:pPr>
            <a:r>
              <a:t>Sistem Cerdas Pendukung Keputusan Jalur Registrasi Obat, Verifikasi Tarif PNBP,</a:t>
            </a:r>
            <a:br/>
            <a:r>
              <a:t>Evaluasi Dossier Format ACTD, dan Analisis Kesenjangan (Gap-Check)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Bilingual: Bahasa Indonesia &amp; English  |  Platform Terintegrasi Web UI &amp; Ekspor Word (.docx)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Latar Belakang &amp; Tantangan Registrasi Obat di Indonesia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01. Kompleksitas Regulasi BPOM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Banyaknya peraturan yang terus diperbarui (PerBPOM 24/2017, 13/2021, 24/2023) membuat penentuan kategori pendaftaran (Kategori 1-7) dan jalur evaluasi rentan salah tafsir.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02. Risiko Surat Permintaan Tambahan Data (TD)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Kekurangan dokumen teknis saat penyerahan berkas memicu diterbitkannya Surat TD dengan batas waktu ketat 20 Hari Kerja (clock-stop) yang dapat memperlambat peluncuran produk 3-9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03. Persyaratan Spesifik Iklim Zona IVb &amp; Mutu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BPOM mewajibkan data stabilitas kondisi iklim tropis ekstrim Zona IVb (30°C/75% RH) dan validasi 3 bets komersial yang kerap luput dari dossier prinsipal global (hanya Zona II).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04. Sertifikasi CPOB Luar Negeri &amp; CPP WHO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Registrasi obat impor mensyaratkan Surat Pengakuan CPOB LN dari BPOM dan Certificate of Pharmaceutical Product (CPP) format resmi WHO dengan validitas aktif.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Tujuan &amp; Nilai Strategis AI Assistant Bagi Tim Regulatory Affairs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🎯 Otomatisasi Penentuan Jalur &amp; Biaya Resmi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Menentukan Kategori 1 s/d 7 dan Jalur Evaluasi (40, 100, 120, 150, 300 HK) secara otomatis disertai kalkulasi akurat tagihan PNBP (PP No. 32 Tahun 2017) dan estimasi kalender.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🎯 Memaksimalkan First-Cycle Approval Rate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Mendeteksi dini defisiensi dokumen (gap-check) sebelum pendaftaran diajukan ke portal ASROT BPOM, menghindari penolakan pada pra-registrasi dan meminimalkan siklus Tambahan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🎯 Standardisasi Dossier Sesuai Format ACTD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Menyediakan panduan daftar periksa modul Part I (Administratif), Part II (Mutu), Part III (Non-Klinis), dan Part IV (Klinis) yang telah disesuaikan dengan kriteria khusus BPOM 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🎯 Simulasi Evaluasi Dossier &amp; Draf Surat Resmi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Mensimulasikan penilaian ala evaluator BPOM untuk menghasilkan skor kepatuhan, status keputusan (MS / TD / TMS), serta menyusun draf resmi Surat Permintaan Tambahan Data secara instan.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Sumber Data Regulasi &amp; Rujukan Statutori Resmi BPOM 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BPOM No. 24 Tahun 2017 &amp; No. 13 Tahun 2021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Kriteria dan Tata Laksana Registrasi Obat manusia di Indonesia, mekanisme registrasi elektronik (ASROT), kategori pendaftaran, dan jangka waktu evaluasi.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BPOM No. 24 Tahun 2023 (Pembaruan Kedua)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Mekanisme evaluasi Reliance (Jalur 100 &amp; 120 HK) untuk obat baru dan biosimilar yang telah disetujui oleh otoritas regulasi terpercaya (SRA / WHO Listed Authorities).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Pemerintah (PP) No. 32 Tahun 2017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Tarif resmi Penerimaan Negara Bukan Pajak (PNBP) yang berlaku pada Badan POM untuk pra-registrasi, registrasi obat baru, obat copy/generik, variasi, dan inspeksi CPOB.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BPOM No. 15 Tahun 2019 jo. No. 28 Tahun 2022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Pedoman registrasi Produk Biologi &amp; Biosimilar: comparability exercise, karakterisasi mutu, uji klinis fase 3 ekivalensi, dan Risk Management Plan (RMP).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BPOM No. 27 Tahun 2020 (CPOB &amp; CPOB Luar Negeri)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Penerapan Cara Pembuatan Obat yang Baik, persyaratan penilaian dokumen pemenuhan CPOB fasilitas luar negeri (Desk Evaluation) dan inspeksi on-site BPOM.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A365D"/>
                </a:solidFill>
              </a:defRPr>
            </a:pPr>
            <a:r>
              <a:t>Peraturan BPOM No. 11 Tahun 2022 &amp; ASEAN Stability Zone IVb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Tata Laksana Uji Bioekivalensi in vivo, kriteria Biowaiver BCS Kelas 1 &amp; 3, serta Pedoman Stabilitas ASEAN Kondisi Iklim Zona IVb (30°C ± 2°C / 75% ± 5% RH).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Arsitektur Sistem &amp; Alur Kerja Terintegrasi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A365D"/>
                </a:solidFill>
              </a:defRPr>
            </a:pPr>
            <a:r>
              <a:t>1. Input Data Produk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Molekul (NCE/Biologi/Generik), Manufaktur (Lokal/Impor), SRA Approval, Status BE &amp; CPOB.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01168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A365D"/>
                </a:solidFill>
              </a:defRPr>
            </a:pPr>
            <a:r>
              <a:t>2. Rule-Based Engine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Evaluasi PerBPOM 24/2017 &amp; 24/2023, Klasifikasi Kategori 1-7, Jalur HK &amp; Biaya PNBP PP 32/2017.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A365D"/>
                </a:solidFill>
              </a:defRPr>
            </a:pPr>
            <a:r>
              <a:t>3. ACTD Checklist &amp; Audit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Verifikasi kelengkapan dokumen Modul I-IV, analisis kesenjangan (Critical / Major / Minor Gaps).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01168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A365D"/>
                </a:solidFill>
              </a:defRPr>
            </a:pPr>
            <a:r>
              <a:t>4. Dossier Evaluator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Simulasi penilaian evaluator BPOM, kalkulasi skor kepatuhan (0-100%), dan penentuan vonis MS / TD / TMS.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01168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228600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A365D"/>
                </a:solidFill>
              </a:defRPr>
            </a:pPr>
            <a:r>
              <a:t>5. Output &amp; Ekspor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Tampilan interaktif Web UI, draft resmi Surat Tambahan Data, serta unduhan dokumen Word (.docx).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Fitur 1: Penentuan Jalur Registrasi &amp; Kalkulator PNBP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Logika Penentuan Kategori &amp; Jalur (Hari Kerja)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Kategori 1 (NCE / Produk Biologi Baru / Biosimilar)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Kategori 2 (Indikasi Baru / Posologi Baru)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Kategori 3 (Bentuk Sediaan Baru / Rute Baru / Kekuatan Baru)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Kategori 4 (Obat Copy dengan Uji Bioekivalensi / Biowaiver BCS)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Kategori 5 &amp; 6 (Obat Copy tanpa Uji BE / Perubahan Tertentu)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Jalur Khusus 40 HK: Program kesehatan nasional / darurat.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Jalur 100 HK: Obat Copy BE standar &amp; Obat Baru via Reliance SRA.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Jalur 120 HK: Biosimilar terdaftar SRA via Reliance Parsial.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Jalur 150 HK: Kategori 2 &amp; 3 modifikasi bentuk sediaan.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Jalur 300 HK: Evaluasi penuh Komnas Penilai Obat untuk NCE lokal/non-SRA.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Tarif Resmi PNBP BPOM (PP No. 32 Tahun 2017)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Pra-Registrasi (Semua Kategori) : Rp 1.000.000</a:t>
            </a:r>
          </a:p>
          <a:p>
            <a:pPr>
              <a:defRPr sz="1000" b="1">
                <a:solidFill>
                  <a:srgbClr val="28744B"/>
                </a:solidFill>
              </a:defRPr>
            </a:pPr>
            <a:r>
              <a:t>• Registrasi Baru Kategori 1 (NCE / Biologi) : Rp 100.000.000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Registrasi Baru Kategori 2 (Indikasi Baru) : Rp 75.000.000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Registrasi Baru Kategori 3 (Bentuk/Dosis Baru) : Rp 50.000.000</a:t>
            </a:r>
          </a:p>
          <a:p>
            <a:pPr>
              <a:defRPr sz="1000" b="1">
                <a:solidFill>
                  <a:srgbClr val="28744B"/>
                </a:solidFill>
              </a:defRPr>
            </a:pPr>
            <a:r>
              <a:t>• Registrasi Kategori 4 (Obat Copy dengan Uji BE) : Rp 30.000.000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Registrasi Kategori 5 (Obat Copy Standar) : Rp 20.000.000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Penilaian CPOB Luar Negeri (Desk Evaluation) : Rp 10.000.000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• Inspeksi CPOB Luar Negeri (On-site) : Rp 50.000.000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Fitur 2: Daftar Periksa Modul ACTD (Parts I - IV)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365D"/>
                </a:solidFill>
              </a:defRPr>
            </a:pPr>
            <a:r>
              <a:t>Part I: Administratif &amp; Legal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Surat Pengantar &amp; Pernyataan Komitmen Pendaftar</a:t>
            </a:r>
            <a:br/>
            <a:r>
              <a:t>• Izin Industri Farmasi &amp; Sertifikat CPOB</a:t>
            </a:r>
            <a:br/>
            <a:r>
              <a:t>• CPP Format WHO &amp; Letter of Authorization (LoA)</a:t>
            </a:r>
            <a:br/>
            <a:r>
              <a:t>• Naskah Brosur Pasien (PIL) Bahasa Indonesia</a:t>
            </a:r>
            <a:br/>
            <a:r>
              <a:t>• Pernyataan Keabsahan Dokumen &amp; Status Halal (UU JPH)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365D"/>
                </a:solidFill>
              </a:defRPr>
            </a:pPr>
            <a:r>
              <a:t>Part II: Mutu / CMC (Quality)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Ringkasan Dokumen Mutu (QOS)</a:t>
            </a:r>
            <a:br/>
            <a:r>
              <a:t>• Zat Aktif (S1-S7): Sintesis, Impuritas Nitrosamin/ICH Q3D</a:t>
            </a:r>
            <a:br/>
            <a:r>
              <a:t>• Produk Jadi (P1-P8): Formula &amp; Pengembangan</a:t>
            </a:r>
            <a:br/>
            <a:r>
              <a:t>• Laporan Validasi Proses 3 Bets Komersial</a:t>
            </a:r>
            <a:br/>
            <a:r>
              <a:t>• Stabilitas Zona IVb (30°C/75% RH) real-time &amp; accelerated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365D"/>
                </a:solidFill>
              </a:defRPr>
            </a:pPr>
            <a:r>
              <a:t>Part III: Dokumen Non-Klinis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Ringkasan Studi Non-Klinis (Overview)</a:t>
            </a:r>
            <a:br/>
            <a:r>
              <a:t>• Studi Farmakodinamika &amp; Farmakokinetika in vitro/in vivo</a:t>
            </a:r>
            <a:br/>
            <a:r>
              <a:t>• Studi Toksikologi GLP komparatif</a:t>
            </a:r>
            <a:br/>
            <a:r>
              <a:t>• ⚡ Auto-Waiver: Otomatis Dikecualikan untuk Obat Copy/Generik.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365D"/>
                </a:solidFill>
              </a:defRPr>
            </a:pPr>
            <a:r>
              <a:t>Part IV: Dokumen Klinis &amp; BE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Laporan Uji Bioekivalensi (BE) in vivo vs Inovator Resmi BPOM</a:t>
            </a:r>
            <a:br/>
            <a:r>
              <a:t>• Uji Disolusi Terbanding (UDT) 3 pH Media (f2 &gt;= 50)</a:t>
            </a:r>
            <a:br/>
            <a:r>
              <a:t>• Uji Klinis Komparatif Fase 1 &amp; 3 Efikasi/Keamanan (Biologi)</a:t>
            </a:r>
            <a:br/>
            <a:r>
              <a:t>• Rencana Manajemen Risiko (RMP) &amp; Farmakovigilans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Fitur 3: Audit Kesenjangan Dossier Pra-Pengajuan (Gap-Check)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53030"/>
                </a:solidFill>
              </a:defRPr>
            </a:pPr>
            <a:r>
              <a:t>CRITICAL GAPS (Temuan Kritis)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Menyebabkan penolakan mutlak (Pre-reg rejection / SHPR Ditolak):</a:t>
            </a:r>
            <a:br/>
            <a:r>
              <a:t>• Stabilitas hanya diuji pada Zona II (25°C/60% RH) - tanpa data Zona IVb.</a:t>
            </a:r>
            <a:br/>
            <a:r>
              <a:t>• CPP tidak sesuai skema WHO atau telah habis masa berlakunya.</a:t>
            </a:r>
            <a:br/>
            <a:r>
              <a:t>• Pabrik luar negeri belum memiliki status pengakuan CPOB BPOM RI.</a:t>
            </a:r>
            <a:br/>
            <a:r>
              <a:t>• Uji BE menggunakan komparator asing yang belum diakui BPOM.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B7791F"/>
                </a:solidFill>
              </a:defRPr>
            </a:pPr>
            <a:r>
              <a:t>MAJOR GAPS (Temuan Mayor)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Memicu Surat Permintaan Tambahan Data (TD) dengan clock-stop 20 HK:</a:t>
            </a:r>
            <a:br/>
            <a:r>
              <a:t>• Validasi proses komersial belum lengkap 3 bets (hanya 1 bets/protokol).</a:t>
            </a:r>
            <a:br/>
            <a:r>
              <a:t>• Laporan Uji Disolusi Terbanding (UDT) 3 pH media belum lengkap.</a:t>
            </a:r>
            <a:br/>
            <a:r>
              <a:t>• Brosur Pasien (PIL) belum tersedia dalam terjemahan resmi Bahasa Indonesia.</a:t>
            </a:r>
            <a:br/>
            <a:r>
              <a:t>• Durasi pengujian stabilitas real-time Zona IVb kurang dari 6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718096"/>
                </a:solidFill>
              </a:defRPr>
            </a:pPr>
            <a:r>
              <a:t>MINOR GAPS (Temuan Minor)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Catatan minor yang diselesaikan sebelum penerbitan Izin Edar (NIE):</a:t>
            </a:r>
            <a:br/>
            <a:r>
              <a:t>• Surat komitmen pengujian stabilitas lanjutan belum dilampirkan.</a:t>
            </a:r>
            <a:br/>
            <a:r>
              <a:t>• Penyesuaian redaksional tata letak kemasan dus / blister (mockup).</a:t>
            </a:r>
            <a:br/>
            <a:r>
              <a:t>• Surat pernyataan asal bahan baku porcine/non-porcine.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Fitur 4: Evaluasi Dossier Komprehensif &amp; Generator Surat 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Sistem Penilaian &amp; Status Keputusan BPOM</a:t>
            </a:r>
          </a:p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🟢 MEMENUHI SYARAT (MS) - Skor &gt;= 90%</a:t>
            </a:r>
          </a:p>
          <a:p>
            <a:pPr>
              <a:spcAft>
                <a:spcPts val="800"/>
              </a:spcAft>
              <a:defRPr sz="950">
                <a:solidFill>
                  <a:srgbClr val="2D3748"/>
                </a:solidFill>
              </a:defRPr>
            </a:pPr>
            <a:r>
              <a:t>Seluruh dokumen administratif, mutu, non-klinis, dan klinis lengkap tanpa defisiensi kritis/mayor. Direkomendasikan untuk penerbitan Izin Edar (NIE).</a:t>
            </a:r>
          </a:p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🟡 PERMINTAAN TAMBAHAN DATA (TD) - Skor 60-89%</a:t>
            </a:r>
          </a:p>
          <a:p>
            <a:pPr>
              <a:spcAft>
                <a:spcPts val="800"/>
              </a:spcAft>
              <a:defRPr sz="950">
                <a:solidFill>
                  <a:srgbClr val="2D3748"/>
                </a:solidFill>
              </a:defRPr>
            </a:pPr>
            <a:r>
              <a:t>Dossier layak diproses bersyarat. Terdapat kekurangan data mayor yang harus dipenuhi oleh pendaftar dalam batas waktu 20 Hari Kerja.</a:t>
            </a:r>
          </a:p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</a:defRPr>
            </a:pPr>
            <a:r>
              <a:t>🔴 TIDAK MEMENUHI SYARAT (TMS) - Skor &lt; 60%</a:t>
            </a:r>
          </a:p>
          <a:p>
            <a:pPr>
              <a:spcAft>
                <a:spcPts val="800"/>
              </a:spcAft>
              <a:defRPr sz="950">
                <a:solidFill>
                  <a:srgbClr val="2D3748"/>
                </a:solidFill>
              </a:defRPr>
            </a:pPr>
            <a:r>
              <a:t>Terdapat defisiensi fatal yang melanggar kriteria registrasi BPOM. Permohonan izin edar dinyatakan ditolak / batal demi hukum.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Otomatisasi Konsep Surat Permintaan Tambahan Data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✓ Mengadopsi format resmi Surat Dinas Direktorat Registrasi Obat BPOM RI.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✓ Mencantumkan nomor surat resmi, identitas obat, dan batas waktu 20 Hari Kerja sesuai Pasal 29 PerBPOM 24/2017.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✓ Menyusun daftar pertanyaan teknis evaluator secara butir per butir berdasarkan temuan kesenjangan spesifik.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✓ Dilengkapi fitur satu klik 'Salin Naskah' ke clipboard.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✓ Dapat diekspor secara otomatis ke dalam dokumen Word (.docx) lengkap dengan tabel penilaian per modul dan kolom tanda tangan evaluator.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Validasi Sistem: Pengujian 3 Skenario Kasus Nyata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2B6CB0"/>
                </a:solidFill>
              </a:defRPr>
            </a:pPr>
            <a:r>
              <a:t>Skenario 1: Biologi Impor (Trastuzumab Biosimilar 440mg)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Asal: Impor Belanda (EU), disetujui EMA &amp; Health Canada</a:t>
            </a:r>
            <a:br/>
            <a:r>
              <a:t>• Kategori: Kategori 1 (Produk Biologi / Biosimilar)</a:t>
            </a:r>
            <a:br/>
            <a:r>
              <a:t>• Jalur Evaluasi: Jalur 120 HK (Reliance Parsial SRA)</a:t>
            </a:r>
            <a:br/>
            <a:r>
              <a:t>• Waktu Total: 140 Hari Kerja (~9 Bulan Kalender)</a:t>
            </a:r>
            <a:br/>
            <a:r>
              <a:t>• Total PNBP: Rp 111.000.000 (Pra-reg + Kat 1 + Desk CPOB LN)</a:t>
            </a:r>
            <a:br/>
            <a:r>
              <a:t>• Status: MEMENUHI SYARAT (MS) - Skor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745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319795"/>
                </a:solidFill>
              </a:defRPr>
            </a:pPr>
            <a:r>
              <a:t>Skenario 2: Generik Lokal (Metformin HCl 500mg Tablet)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Asal: Manufaktur Lokal Cikarang, Jawa Barat</a:t>
            </a:r>
            <a:br/>
            <a:r>
              <a:t>• Kategori: Kategori 4 (Obat Copy dengan Uji Bioekivalensi)</a:t>
            </a:r>
            <a:br/>
            <a:r>
              <a:t>• Jalur Evaluasi: Jalur 100 HK (Obat Copy BE Terstandar)</a:t>
            </a:r>
            <a:br/>
            <a:r>
              <a:t>• Waktu Total: 120 Hari Kerja (~7.7 Bulan Kalender)</a:t>
            </a:r>
            <a:br/>
            <a:r>
              <a:t>• Total PNBP: Rp 31.000.000 (Pra-reg + Kat 4)</a:t>
            </a:r>
            <a:br/>
            <a:r>
              <a:t>• Modul Non-Klinis: WAIVED (Dikecualikan)</a:t>
            </a:r>
            <a:br/>
            <a:r>
              <a:t>• Status: MEMENUHI SYARAT BERSYARAT (TD) jika UDT belum 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745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C53030"/>
                </a:solidFill>
              </a:defRPr>
            </a:pPr>
            <a:r>
              <a:t>Skenario 3: Audit Gap-Check (Dossier Onkologi Impor Pemetrexed)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• Asal: Impor Luar Negeri dengan 8 Defisiensi</a:t>
            </a:r>
            <a:br/>
            <a:r>
              <a:t>• Temuan Kritis: Hanya Zona II (bukan IVb), CPP kedaluwarsa, belum ada pengakuan CPOB BPOM, komparator BE tidak diakui</a:t>
            </a:r>
            <a:br/>
            <a:r>
              <a:t>• Temuan Mayor: Validasi komersial belum ada, UDT absen, brosur hanya bahasa asing</a:t>
            </a:r>
            <a:br/>
            <a:r>
              <a:t>• Status: TIDAK MEMENUHI SYARAT (TMS) - Fatal Rejection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Kemampuan Bilingual &amp; Ekspor Dokumen Resmi (.docx)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🌐 Pengalih Bahasa Real-Time (Bilingual Engine)</a:t>
            </a:r>
          </a:p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</a:defRPr>
            </a:pPr>
            <a:r>
              <a:t>Bahasa Indonesia (ID)</a:t>
            </a:r>
          </a:p>
          <a:p>
            <a:pPr>
              <a:spcAft>
                <a:spcPts val="1000"/>
              </a:spcAft>
              <a:defRPr sz="950">
                <a:solidFill>
                  <a:srgbClr val="2D3748"/>
                </a:solidFill>
              </a:defRPr>
            </a:pPr>
            <a:r>
              <a:t>Dirancang khusus menggunakan terminologi baku regulasi BPOM RI (misal: Surat Izin Edar / NIE, Surat Hasil Pra-Registrasi / SHPR, Uji Disolusi Terbanding / UDT, Pelaporan MESO, dsb.).</a:t>
            </a:r>
          </a:p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</a:defRPr>
            </a:pPr>
            <a:r>
              <a:t>English (EN)</a:t>
            </a:r>
          </a:p>
          <a:p>
            <a:pPr>
              <a:spcAft>
                <a:spcPts val="1000"/>
              </a:spcAft>
              <a:defRPr sz="950">
                <a:solidFill>
                  <a:srgbClr val="2D3748"/>
                </a:solidFill>
              </a:defRPr>
            </a:pPr>
            <a:r>
              <a:t>Ditujukan bagi koordinasi internasional dengan principal luar negeri, ekspatriat RA, dan mitra lisensi global untuk menyamakan persepsi persyaratan regulasi BPOM.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</a:defRPr>
            </a:pPr>
            <a:r>
              <a:t>📄 Ekspor Microsoft Word (.docx) Otomatis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Format Eksekutif Resmi: Header, footer 'CONFIDENTIAL', margin standar regulasi.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Tabel Tarif PNBP &amp; Timeline: Berisi rincian kode biaya, landasan hukum PP 32/2017, dan total tagihan SIMPONI.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Tabel Daftar Periksa ACTD: Berisi modul lengkap Part I-IV dengan status [WAJIB] atau [WAIVED].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Laporan Audit Gap-Check: Tabel berkode warna (Merah: Kritis, Oranye: Mayor, Hijau: Memenuhi Syarat) disertai langkah remediasi.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Laporan Evaluasi Dossier: Skor kepatuhan, catatan evaluator BPOM, draf Surat Tambahan Data, dan kolom tanda tangan evaluator/PJT.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19795"/>
                </a:solidFill>
              </a:defRPr>
            </a:pPr>
            <a:r>
              <a:t>BPOM DRUG REGULATORY AFFAIRS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Panduan Akses &amp; Implementasi Aplikasi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A365D"/>
                </a:solidFill>
              </a:defRPr>
            </a:pPr>
            <a:r>
              <a:t>Metode 1: Double-Click Launcher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Cukup klik dua kali berkas 'run_app.bat' di direktori project. Server akan langsung aktif dan otomatis membuka browser di http://127.0.0.1:5000.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A365D"/>
                </a:solidFill>
              </a:defRPr>
            </a:pPr>
            <a:r>
              <a:t>Metode 2: Terminal / PowerShell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Jalankan perintah:</a:t>
            </a:r>
            <a:br/>
            <a:r>
              <a:t>python app.py</a:t>
            </a:r>
            <a:br/>
            <a:r>
              <a:t>Server lokal akan melayani peramban web pada port 5000.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A365D"/>
                </a:solidFill>
              </a:defRPr>
            </a:pPr>
            <a:r>
              <a:t>Metode 3: CLI Programmatic Batch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Jalankan evaluasi langsung dari terminal menggunakan argumen:</a:t>
            </a:r>
            <a:br/>
            <a:r>
              <a:t>python bpom_ra_agent/cli.py --scenario 1 --lang ID</a:t>
            </a:r>
            <a:br/>
            <a:r>
              <a:t>Menghasilkan berkas Word secara instan.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19795"/>
                </a:solidFill>
              </a:defRPr>
            </a:pPr>
            <a:r>
              <a:t>KESIMPULAN &amp; MANFAAT STRATEGIS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Akselerasi Izin Edar &amp; Kepatuhan Regulasi BPOM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⚡ Menghemat waktu analisis regulasi hingga 80% bagi tim Regulatory Affairs.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🛡️ Mencegah kerugian finansial akibat penolakan pra-registrasi dan denda keterlambatan izin edar.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📊 Menyediakan audit trail dan dokumentasi Word resmi yang siap diserahkan ke manajemen maupun auditor.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🤝 Menjembatani komunikasi regulasi antara prinsipal farmasi multinasional dan persyaratan lokal BPOM 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